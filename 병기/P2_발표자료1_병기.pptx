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2" r:id="rId4"/>
    <p:sldId id="273" r:id="rId5"/>
    <p:sldId id="274" r:id="rId6"/>
    <p:sldId id="275" r:id="rId7"/>
    <p:sldId id="257" r:id="rId8"/>
    <p:sldId id="259" r:id="rId9"/>
    <p:sldId id="258" r:id="rId10"/>
    <p:sldId id="260" r:id="rId11"/>
    <p:sldId id="265" r:id="rId12"/>
    <p:sldId id="276" r:id="rId13"/>
    <p:sldId id="262" r:id="rId14"/>
    <p:sldId id="266" r:id="rId15"/>
    <p:sldId id="267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>
        <p:scale>
          <a:sx n="66" d="100"/>
          <a:sy n="66" d="100"/>
        </p:scale>
        <p:origin x="262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69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7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70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3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94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97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03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745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675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68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73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EF256-2D80-4FF3-822D-B6890CC5D27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486E7-EDC9-446A-98E4-C1585C89E2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78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6.xml"/><Relationship Id="rId4" Type="http://schemas.openxmlformats.org/officeDocument/2006/relationships/video" Target="../media/media3.mp4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ROS2, </a:t>
            </a:r>
            <a:r>
              <a:rPr lang="ko-KR" altLang="en-US" dirty="0" err="1" smtClean="0"/>
              <a:t>딥러닝</a:t>
            </a:r>
            <a:r>
              <a:rPr lang="ko-KR" altLang="en-US" dirty="0" smtClean="0"/>
              <a:t> 연동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자율주행 로봇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err="1" smtClean="0"/>
              <a:t>궁수상병</a:t>
            </a:r>
            <a:r>
              <a:rPr lang="en-US" altLang="ko-KR" dirty="0" smtClean="0"/>
              <a:t>_(</a:t>
            </a:r>
            <a:r>
              <a:rPr lang="ko-KR" altLang="en-US" dirty="0" err="1" smtClean="0"/>
              <a:t>신궁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이수혁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이상휘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박병기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020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23900" y="1690688"/>
            <a:ext cx="110109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목표</a:t>
            </a:r>
            <a:endParaRPr lang="en-US" altLang="ko-KR" dirty="0" smtClean="0"/>
          </a:p>
          <a:p>
            <a:r>
              <a:rPr lang="ko-KR" altLang="en-US" dirty="0" smtClean="0"/>
              <a:t>역할 분담</a:t>
            </a:r>
            <a:endParaRPr lang="en-US" altLang="ko-KR" dirty="0" smtClean="0"/>
          </a:p>
          <a:p>
            <a:r>
              <a:rPr lang="ko-KR" altLang="en-US" dirty="0" smtClean="0"/>
              <a:t>시스템 구상도</a:t>
            </a:r>
            <a:endParaRPr lang="en-US" altLang="ko-KR" dirty="0" smtClean="0"/>
          </a:p>
          <a:p>
            <a:r>
              <a:rPr lang="en-US" altLang="ko-KR" dirty="0"/>
              <a:t>ROS 2 </a:t>
            </a:r>
            <a:r>
              <a:rPr lang="ko-KR" altLang="en-US" dirty="0"/>
              <a:t>노드 통신 </a:t>
            </a:r>
            <a:r>
              <a:rPr lang="ko-KR" altLang="en-US" dirty="0" smtClean="0"/>
              <a:t>설계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병기</a:t>
            </a:r>
            <a:endParaRPr lang="en-US" altLang="ko-KR" dirty="0" smtClean="0"/>
          </a:p>
          <a:p>
            <a:r>
              <a:rPr lang="ko-KR" altLang="en-US" dirty="0" smtClean="0"/>
              <a:t>직진 주행 테스트</a:t>
            </a:r>
            <a:endParaRPr lang="en-US" altLang="ko-KR" dirty="0" smtClean="0"/>
          </a:p>
          <a:p>
            <a:r>
              <a:rPr lang="ko-KR" altLang="en-US" dirty="0" smtClean="0"/>
              <a:t>회전 주행 테스트</a:t>
            </a:r>
            <a:endParaRPr lang="en-US" altLang="ko-KR" dirty="0" smtClean="0"/>
          </a:p>
          <a:p>
            <a:r>
              <a:rPr lang="ko-KR" altLang="en-US" dirty="0" smtClean="0"/>
              <a:t>라인 인식</a:t>
            </a:r>
            <a:endParaRPr lang="en-US" altLang="ko-KR" dirty="0" smtClean="0"/>
          </a:p>
          <a:p>
            <a:r>
              <a:rPr lang="ko-KR" altLang="en-US" dirty="0" smtClean="0"/>
              <a:t>정적 장애물 회피 주행</a:t>
            </a:r>
            <a:endParaRPr lang="en-US" altLang="ko-KR" dirty="0" smtClean="0"/>
          </a:p>
          <a:p>
            <a:r>
              <a:rPr lang="ko-KR" altLang="en-US" dirty="0" smtClean="0"/>
              <a:t>동적 장애물 회피 주행</a:t>
            </a:r>
            <a:endParaRPr lang="en-US" altLang="ko-KR" dirty="0" smtClean="0"/>
          </a:p>
          <a:p>
            <a:r>
              <a:rPr lang="ko-KR" altLang="en-US" dirty="0" smtClean="0"/>
              <a:t>표지판 및 신호등 감지</a:t>
            </a:r>
            <a:endParaRPr lang="en-US" altLang="ko-KR" dirty="0" smtClean="0"/>
          </a:p>
          <a:p>
            <a:r>
              <a:rPr lang="ko-KR" altLang="en-US" dirty="0" smtClean="0"/>
              <a:t>좌회전</a:t>
            </a:r>
            <a:endParaRPr lang="en-US" altLang="ko-KR" dirty="0" smtClean="0"/>
          </a:p>
          <a:p>
            <a:r>
              <a:rPr lang="ko-KR" altLang="en-US" dirty="0" smtClean="0"/>
              <a:t>통합 결과</a:t>
            </a:r>
            <a:endParaRPr lang="en-US" altLang="ko-KR" dirty="0" smtClean="0"/>
          </a:p>
          <a:p>
            <a:r>
              <a:rPr lang="ko-KR" altLang="en-US" dirty="0" smtClean="0"/>
              <a:t>주요</a:t>
            </a:r>
            <a:r>
              <a:rPr lang="en-US" altLang="ko-KR" dirty="0" smtClean="0"/>
              <a:t> </a:t>
            </a:r>
            <a:r>
              <a:rPr lang="ko-KR" altLang="en-US" dirty="0" smtClean="0"/>
              <a:t>트러블 슈팅 </a:t>
            </a:r>
            <a:endParaRPr lang="en-US" altLang="ko-KR" dirty="0" smtClean="0"/>
          </a:p>
          <a:p>
            <a:r>
              <a:rPr lang="en-US" altLang="ko-KR" dirty="0" smtClean="0"/>
              <a:t>Q&amp;A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377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40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역할 분담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773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ROS </a:t>
            </a:r>
            <a:r>
              <a:rPr lang="en-US" altLang="ko-KR" dirty="0"/>
              <a:t>2 </a:t>
            </a:r>
            <a:r>
              <a:rPr lang="ko-KR" altLang="en-US" dirty="0"/>
              <a:t>노드 통신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310200"/>
              </p:ext>
            </p:extLst>
          </p:nvPr>
        </p:nvGraphicFramePr>
        <p:xfrm>
          <a:off x="819150" y="1686317"/>
          <a:ext cx="10515604" cy="4225147"/>
        </p:xfrm>
        <a:graphic>
          <a:graphicData uri="http://schemas.openxmlformats.org/drawingml/2006/table">
            <a:tbl>
              <a:tblPr/>
              <a:tblGrid>
                <a:gridCol w="1328964">
                  <a:extLst>
                    <a:ext uri="{9D8B030D-6E8A-4147-A177-3AD203B41FA5}">
                      <a16:colId xmlns:a16="http://schemas.microsoft.com/office/drawing/2014/main" val="1557890849"/>
                    </a:ext>
                  </a:extLst>
                </a:gridCol>
                <a:gridCol w="1973943">
                  <a:extLst>
                    <a:ext uri="{9D8B030D-6E8A-4147-A177-3AD203B41FA5}">
                      <a16:colId xmlns:a16="http://schemas.microsoft.com/office/drawing/2014/main" val="3363871969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745168984"/>
                    </a:ext>
                  </a:extLst>
                </a:gridCol>
                <a:gridCol w="5470983">
                  <a:extLst>
                    <a:ext uri="{9D8B030D-6E8A-4147-A177-3AD203B41FA5}">
                      <a16:colId xmlns:a16="http://schemas.microsoft.com/office/drawing/2014/main" val="451119060"/>
                    </a:ext>
                  </a:extLst>
                </a:gridCol>
              </a:tblGrid>
              <a:tr h="490429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노드</a:t>
                      </a:r>
                      <a:endParaRPr lang="ko-KR" altLang="en-US" sz="1800" b="1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토픽</a:t>
                      </a:r>
                      <a:endParaRPr lang="en-US" altLang="ko-KR" sz="1800" b="1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/>
                      <a:r>
                        <a:rPr 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(Subscribe)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출력 </a:t>
                      </a:r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토픽</a:t>
                      </a:r>
                      <a:endParaRPr lang="en-US" altLang="ko-KR" sz="1800" b="1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/>
                      <a:r>
                        <a:rPr 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(Publish)</a:t>
                      </a:r>
                      <a:endParaRPr lang="en-US" sz="1800" b="1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핵심 메커니즘 및 기능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7812586"/>
                  </a:ext>
                </a:extLst>
              </a:tr>
              <a:tr h="1208317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cam_image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카메라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HW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직접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연결</a:t>
                      </a:r>
                      <a:endParaRPr lang="en-US" altLang="ko-KR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image_raw</a:t>
                      </a:r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/compressed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V4L2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기반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640x480 @30fps JPEG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압축 발행</a:t>
                      </a:r>
                    </a:p>
                    <a:p>
                      <a:pPr rtl="0"/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멀티캐스트 차단 및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IP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지정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유니캐스트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송신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087884"/>
                  </a:ext>
                </a:extLst>
              </a:tr>
              <a:tr h="1208317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lidar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라이다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HW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직접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연결</a:t>
                      </a:r>
                      <a:endParaRPr lang="en-US" altLang="ko-KR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filtered_scan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obstacle_status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정면 기준 좌우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15° (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30°)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내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0.40m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장애물 스캔</a:t>
                      </a:r>
                    </a:p>
                    <a:p>
                      <a:pPr rtl="0"/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위험 검출 시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[1.0],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안전 시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[0.0]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고속 발행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310898"/>
                  </a:ext>
                </a:extLst>
              </a:tr>
              <a:tr h="1208317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bridge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esp_command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esp_status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ROS 2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제어 명령 수신 후 텍스트 포맷으로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파싱</a:t>
                      </a:r>
                      <a:endParaRPr lang="ko-KR" alt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보레이트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115200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인터페이스로 하드웨어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(ESP32)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송수신</a:t>
                      </a:r>
                      <a:endParaRPr lang="ko-KR" alt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3732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70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ROS </a:t>
            </a:r>
            <a:r>
              <a:rPr lang="en-US" altLang="ko-KR" dirty="0"/>
              <a:t>2 </a:t>
            </a:r>
            <a:r>
              <a:rPr lang="ko-KR" altLang="en-US" dirty="0"/>
              <a:t>노드 통신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83729"/>
              </p:ext>
            </p:extLst>
          </p:nvPr>
        </p:nvGraphicFramePr>
        <p:xfrm>
          <a:off x="819523" y="1685007"/>
          <a:ext cx="10515604" cy="4869664"/>
        </p:xfrm>
        <a:graphic>
          <a:graphicData uri="http://schemas.openxmlformats.org/drawingml/2006/table">
            <a:tbl>
              <a:tblPr/>
              <a:tblGrid>
                <a:gridCol w="1328591">
                  <a:extLst>
                    <a:ext uri="{9D8B030D-6E8A-4147-A177-3AD203B41FA5}">
                      <a16:colId xmlns:a16="http://schemas.microsoft.com/office/drawing/2014/main" val="1761347089"/>
                    </a:ext>
                  </a:extLst>
                </a:gridCol>
                <a:gridCol w="1988457">
                  <a:extLst>
                    <a:ext uri="{9D8B030D-6E8A-4147-A177-3AD203B41FA5}">
                      <a16:colId xmlns:a16="http://schemas.microsoft.com/office/drawing/2014/main" val="2949017320"/>
                    </a:ext>
                  </a:extLst>
                </a:gridCol>
                <a:gridCol w="2714172">
                  <a:extLst>
                    <a:ext uri="{9D8B030D-6E8A-4147-A177-3AD203B41FA5}">
                      <a16:colId xmlns:a16="http://schemas.microsoft.com/office/drawing/2014/main" val="2918664528"/>
                    </a:ext>
                  </a:extLst>
                </a:gridCol>
                <a:gridCol w="4484384">
                  <a:extLst>
                    <a:ext uri="{9D8B030D-6E8A-4147-A177-3AD203B41FA5}">
                      <a16:colId xmlns:a16="http://schemas.microsoft.com/office/drawing/2014/main" val="1109185254"/>
                    </a:ext>
                  </a:extLst>
                </a:gridCol>
              </a:tblGrid>
              <a:tr h="493043"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노드</a:t>
                      </a:r>
                      <a:endParaRPr lang="ko-KR" altLang="en-US" sz="1800" b="1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토픽</a:t>
                      </a:r>
                      <a:endParaRPr lang="en-US" altLang="ko-KR" sz="1800" b="1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/>
                      <a:r>
                        <a:rPr lang="en-US" altLang="ko-KR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Subscribe)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출력 </a:t>
                      </a:r>
                      <a:r>
                        <a:rPr lang="ko-KR" altLang="en-US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토픽</a:t>
                      </a:r>
                      <a:endParaRPr lang="en-US" altLang="ko-KR" sz="1800" b="1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/>
                      <a:r>
                        <a:rPr lang="en-US" altLang="ko-KR" sz="1800" b="1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Publish)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ko-KR" altLang="en-US" sz="1800" b="1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핵심 메커니즘 및 기능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920103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cam_line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image_raw</a:t>
                      </a:r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rtl="0"/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compressed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control_state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vision_status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image_line</a:t>
                      </a: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/compressed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ROI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마스킹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및 각도 필터 기반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800" b="0" dirty="0" err="1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노란선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검은선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검출</a:t>
                      </a:r>
                    </a:p>
                    <a:p>
                      <a:pPr rtl="0"/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중앙선 오차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(error)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계산 및 가이드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오버레이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영상 발행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665838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cam_yolo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image_raw</a:t>
                      </a:r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rtl="0"/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compressed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traffic_sign_topic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image_yolo</a:t>
                      </a: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/compressed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YOLOv7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기반 표지판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정지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좌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우회전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실시간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추론</a:t>
                      </a:r>
                    </a:p>
                    <a:p>
                      <a:pPr rtl="0"/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관심영역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(ROI)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및 신뢰도 검증 통과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데이터만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선별 발행</a:t>
                      </a: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2034563"/>
                  </a:ext>
                </a:extLst>
              </a:tr>
              <a:tr h="1216996"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brain</a:t>
                      </a:r>
                    </a:p>
                    <a:p>
                      <a:pPr rtl="0"/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vision_status</a:t>
                      </a: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endParaRPr lang="en-US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obstacle_status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traffic_sign_topic</a:t>
                      </a: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endParaRPr lang="en-US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esp_status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esp_command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control_state</a:t>
                      </a:r>
                      <a:endParaRPr 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상위 주행 상태 머신 제어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(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CRUISE ↔ AVOID)</a:t>
                      </a:r>
                    </a:p>
                    <a:p>
                      <a:pPr rtl="0"/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에러 기반 </a:t>
                      </a:r>
                      <a:r>
                        <a:rPr lang="en-US" altLang="ko-KR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PID </a:t>
                      </a:r>
                      <a:r>
                        <a:rPr lang="ko-KR" altLang="en-US" sz="1800" b="0" dirty="0" err="1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조향</a:t>
                      </a:r>
                      <a:r>
                        <a:rPr lang="ko-KR" altLang="en-US" sz="1800" b="0" dirty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연산 및 회피 시퀀스 </a:t>
                      </a:r>
                      <a:endParaRPr lang="en-US" altLang="ko-KR" sz="1800" b="0" dirty="0" smtClean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rtl="0"/>
                      <a:r>
                        <a:rPr lang="en-US" altLang="ko-KR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800" b="0" dirty="0" smtClean="0">
                          <a:solidFill>
                            <a:srgbClr val="1F1F1F"/>
                          </a:solidFill>
                          <a:effectLst/>
                          <a:latin typeface="+mn-ea"/>
                          <a:ea typeface="+mn-ea"/>
                        </a:rPr>
                        <a:t>트리거</a:t>
                      </a:r>
                      <a:endParaRPr lang="ko-KR" altLang="en-US" sz="1800" b="0" dirty="0">
                        <a:solidFill>
                          <a:srgbClr val="1F1F1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8667" marR="38667" marT="25778" marB="25778" anchor="ctr">
                    <a:lnL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988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540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직진 주행 테스트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690688"/>
            <a:ext cx="10998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IMU </a:t>
            </a:r>
            <a:r>
              <a:rPr lang="ko-KR" altLang="en-US" b="1" dirty="0" err="1" smtClean="0">
                <a:solidFill>
                  <a:srgbClr val="0070C0"/>
                </a:solidFill>
              </a:rPr>
              <a:t>자이로</a:t>
            </a:r>
            <a:r>
              <a:rPr lang="ko-KR" altLang="en-US" b="1" dirty="0" smtClean="0">
                <a:solidFill>
                  <a:srgbClr val="0070C0"/>
                </a:solidFill>
              </a:rPr>
              <a:t> 퓨전 기반 정밀 직진 주행 시스템 </a:t>
            </a:r>
            <a:r>
              <a:rPr lang="en-US" altLang="ko-KR" b="1" dirty="0" smtClean="0">
                <a:solidFill>
                  <a:srgbClr val="00B050"/>
                </a:solidFill>
              </a:rPr>
              <a:t>(</a:t>
            </a:r>
            <a:r>
              <a:rPr lang="ko-KR" altLang="en-US" b="1" dirty="0" smtClean="0">
                <a:solidFill>
                  <a:srgbClr val="00B050"/>
                </a:solidFill>
              </a:rPr>
              <a:t>목표</a:t>
            </a:r>
            <a:r>
              <a:rPr lang="en-US" altLang="ko-KR" b="1" dirty="0" smtClean="0">
                <a:solidFill>
                  <a:srgbClr val="00B050"/>
                </a:solidFill>
              </a:rPr>
              <a:t>: 363cm)</a:t>
            </a:r>
          </a:p>
          <a:p>
            <a:endParaRPr lang="ko-KR" altLang="en-US" dirty="0" smtClean="0">
              <a:solidFill>
                <a:srgbClr val="00B05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rgbClr val="FF0000"/>
                </a:solidFill>
              </a:rPr>
              <a:t>H/W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오픈루프</a:t>
            </a:r>
            <a:r>
              <a:rPr lang="ko-KR" altLang="en-US" b="1" dirty="0" smtClean="0">
                <a:solidFill>
                  <a:srgbClr val="FF0000"/>
                </a:solidFill>
              </a:rPr>
              <a:t> 밸런스 교정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좌우 모터 기계적 편차 극복을 위한 비대칭 가중치 적용 </a:t>
            </a:r>
            <a:r>
              <a:rPr lang="en-US" altLang="ko-KR" dirty="0" smtClean="0"/>
              <a:t>(A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: 1.01, B</a:t>
            </a:r>
            <a:r>
              <a:rPr lang="ko-KR" altLang="en-US" dirty="0" smtClean="0"/>
              <a:t>모터</a:t>
            </a:r>
            <a:r>
              <a:rPr lang="en-US" altLang="ko-KR" dirty="0" smtClean="0"/>
              <a:t>: 1.00)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 smtClean="0"/>
              <a:t>자이로</a:t>
            </a:r>
            <a:r>
              <a:rPr lang="ko-KR" altLang="en-US" dirty="0" smtClean="0"/>
              <a:t> 개입 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구동 초기 차체 틀어짐 방지 및 베이스라인 확보</a:t>
            </a:r>
            <a:endParaRPr lang="en-US" altLang="ko-KR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ko-KR" alt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err="1" smtClean="0">
                <a:solidFill>
                  <a:srgbClr val="FF0000"/>
                </a:solidFill>
              </a:rPr>
              <a:t>오도메트리</a:t>
            </a:r>
            <a:r>
              <a:rPr lang="ko-KR" altLang="en-US" b="1" dirty="0" smtClean="0">
                <a:solidFill>
                  <a:srgbClr val="FF0000"/>
                </a:solidFill>
              </a:rPr>
              <a:t> 정밀 영점 교정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순수 직선 주행 실측 데이터 기반 단위 거리당 </a:t>
            </a:r>
            <a:r>
              <a:rPr lang="ko-KR" altLang="en-US" dirty="0" err="1" smtClean="0"/>
              <a:t>틱</a:t>
            </a:r>
            <a:r>
              <a:rPr lang="ko-KR" altLang="en-US" dirty="0" smtClean="0"/>
              <a:t> 수 산출</a:t>
            </a:r>
            <a:r>
              <a:rPr lang="en-US" altLang="ko-KR" dirty="0" smtClean="0"/>
              <a:t>: 725.875 Ticks/cm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최종 목표 주행</a:t>
            </a:r>
            <a:r>
              <a:rPr lang="en-US" altLang="ko-KR" dirty="0" smtClean="0"/>
              <a:t>(363cm) </a:t>
            </a:r>
            <a:r>
              <a:rPr lang="ko-KR" altLang="en-US" dirty="0" err="1" smtClean="0"/>
              <a:t>틱</a:t>
            </a:r>
            <a:r>
              <a:rPr lang="ko-KR" altLang="en-US" dirty="0" smtClean="0"/>
              <a:t> 수 설정</a:t>
            </a:r>
            <a:r>
              <a:rPr lang="en-US" altLang="ko-KR" dirty="0" smtClean="0"/>
              <a:t>: 263,493 Ticks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 smtClean="0">
                <a:solidFill>
                  <a:srgbClr val="FF0000"/>
                </a:solidFill>
              </a:rPr>
              <a:t>IMU </a:t>
            </a:r>
            <a:r>
              <a:rPr lang="ko-KR" altLang="en-US" b="1" dirty="0" smtClean="0">
                <a:solidFill>
                  <a:srgbClr val="FF0000"/>
                </a:solidFill>
              </a:rPr>
              <a:t>보정 알고리즘 및 </a:t>
            </a:r>
            <a:r>
              <a:rPr lang="en-US" altLang="ko-KR" b="1" dirty="0" smtClean="0">
                <a:solidFill>
                  <a:srgbClr val="FF0000"/>
                </a:solidFill>
              </a:rPr>
              <a:t>PID </a:t>
            </a:r>
            <a:r>
              <a:rPr lang="ko-KR" altLang="en-US" b="1" dirty="0" smtClean="0">
                <a:solidFill>
                  <a:srgbClr val="FF0000"/>
                </a:solidFill>
              </a:rPr>
              <a:t>제어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동적 노이즈 대응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전자기장에 취약한 지자기 센서 대신 </a:t>
            </a:r>
            <a:r>
              <a:rPr lang="ko-KR" altLang="en-US" dirty="0" err="1" smtClean="0"/>
              <a:t>자이로스코프</a:t>
            </a:r>
            <a:r>
              <a:rPr lang="en-US" altLang="ko-KR" dirty="0" smtClean="0"/>
              <a:t>(Z</a:t>
            </a:r>
            <a:r>
              <a:rPr lang="ko-KR" altLang="en-US" dirty="0" smtClean="0"/>
              <a:t>축</a:t>
            </a:r>
            <a:r>
              <a:rPr lang="en-US" altLang="ko-KR" dirty="0" smtClean="0"/>
              <a:t>) </a:t>
            </a:r>
            <a:r>
              <a:rPr lang="ko-KR" altLang="en-US" dirty="0" smtClean="0"/>
              <a:t>독점 적분 방식 채택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정적 노이즈 제거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초기 구동 시 </a:t>
            </a:r>
            <a:r>
              <a:rPr lang="en-US" altLang="ko-KR" dirty="0" smtClean="0"/>
              <a:t>100</a:t>
            </a:r>
            <a:r>
              <a:rPr lang="ko-KR" altLang="en-US" dirty="0" smtClean="0"/>
              <a:t>회 샘플링을 통한 오프셋 영점 보정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 smtClean="0"/>
              <a:t>PID </a:t>
            </a:r>
            <a:r>
              <a:rPr lang="ko-KR" altLang="en-US" dirty="0" smtClean="0"/>
              <a:t>제어</a:t>
            </a:r>
            <a:r>
              <a:rPr lang="en-US" altLang="ko-KR" dirty="0" smtClean="0"/>
              <a:t>: </a:t>
            </a:r>
            <a:r>
              <a:rPr lang="ko-KR" altLang="en-US" dirty="0" smtClean="0"/>
              <a:t>비례 제어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Kp</a:t>
            </a:r>
            <a:r>
              <a:rPr lang="en-US" altLang="ko-KR" dirty="0" smtClean="0"/>
              <a:t> = 1.2)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23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직진 주행 테스트 영상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720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회전 주행 테스트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38200" y="1690688"/>
            <a:ext cx="9321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solidFill>
                  <a:srgbClr val="0070C0"/>
                </a:solidFill>
              </a:rPr>
              <a:t>IMU </a:t>
            </a:r>
            <a:r>
              <a:rPr lang="ko-KR" altLang="en-US" b="1" dirty="0" smtClean="0">
                <a:solidFill>
                  <a:srgbClr val="0070C0"/>
                </a:solidFill>
              </a:rPr>
              <a:t>기반 제자리 회전 제어</a:t>
            </a:r>
            <a:r>
              <a:rPr lang="en-US" altLang="ko-KR" b="1" dirty="0" smtClean="0">
                <a:solidFill>
                  <a:srgbClr val="0070C0"/>
                </a:solidFill>
              </a:rPr>
              <a:t>: </a:t>
            </a:r>
            <a:r>
              <a:rPr lang="ko-KR" altLang="en-US" b="1" dirty="0" err="1" smtClean="0">
                <a:solidFill>
                  <a:srgbClr val="0070C0"/>
                </a:solidFill>
              </a:rPr>
              <a:t>트러블슈팅</a:t>
            </a:r>
            <a:r>
              <a:rPr lang="ko-KR" altLang="en-US" b="1" dirty="0" smtClean="0">
                <a:solidFill>
                  <a:srgbClr val="0070C0"/>
                </a:solidFill>
              </a:rPr>
              <a:t> 및 알고리즘 최적화</a:t>
            </a:r>
            <a:endParaRPr lang="en-US" altLang="ko-KR" b="1" dirty="0" smtClean="0">
              <a:solidFill>
                <a:srgbClr val="0070C0"/>
              </a:solidFill>
            </a:endParaRPr>
          </a:p>
          <a:p>
            <a:endParaRPr lang="ko-KR" alt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FF0000"/>
                </a:solidFill>
              </a:rPr>
              <a:t>문제 현상 및 원인 분석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현상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불규칙한 정지 각도 </a:t>
            </a:r>
            <a:r>
              <a:rPr lang="en-US" altLang="ko-KR" dirty="0" smtClean="0"/>
              <a:t>(15°~135° </a:t>
            </a:r>
            <a:r>
              <a:rPr lang="ko-KR" altLang="en-US" dirty="0" smtClean="0"/>
              <a:t>편차</a:t>
            </a:r>
            <a:r>
              <a:rPr lang="en-US" altLang="ko-KR" dirty="0" smtClean="0"/>
              <a:t>)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180° </a:t>
            </a:r>
            <a:r>
              <a:rPr lang="ko-KR" altLang="en-US" dirty="0" smtClean="0"/>
              <a:t>경계선 부호 역전으로 인한 무한 회전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원인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회전 원심력 및 모터 전자기 노이즈</a:t>
            </a:r>
            <a:r>
              <a:rPr lang="en-US" altLang="ko-KR" dirty="0" smtClean="0"/>
              <a:t>(EMI)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IMU 3</a:t>
            </a:r>
            <a:r>
              <a:rPr lang="ko-KR" altLang="en-US" dirty="0" smtClean="0"/>
              <a:t>차원 자세 필터</a:t>
            </a:r>
            <a:r>
              <a:rPr lang="en-US" altLang="ko-KR" dirty="0" smtClean="0"/>
              <a:t>(Pitch/Roll)</a:t>
            </a:r>
            <a:r>
              <a:rPr lang="ko-KR" altLang="en-US" dirty="0" smtClean="0"/>
              <a:t>를 교란하여 중심축</a:t>
            </a:r>
            <a:r>
              <a:rPr lang="en-US" altLang="ko-KR" dirty="0" smtClean="0"/>
              <a:t>(Yaw) </a:t>
            </a:r>
            <a:r>
              <a:rPr lang="ko-KR" altLang="en-US" dirty="0" smtClean="0"/>
              <a:t>각도 왜곡 발생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FF0000"/>
                </a:solidFill>
              </a:rPr>
              <a:t>핵심 해결 알고리즘</a:t>
            </a:r>
            <a:r>
              <a:rPr lang="en-US" altLang="ko-KR" b="1" dirty="0" smtClean="0">
                <a:solidFill>
                  <a:srgbClr val="FF0000"/>
                </a:solidFill>
              </a:rPr>
              <a:t>: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자이로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Z</a:t>
            </a:r>
            <a:r>
              <a:rPr lang="ko-KR" altLang="en-US" b="1" dirty="0" smtClean="0">
                <a:solidFill>
                  <a:srgbClr val="FF0000"/>
                </a:solidFill>
              </a:rPr>
              <a:t>축 순수 적분 </a:t>
            </a:r>
            <a:r>
              <a:rPr lang="en-US" altLang="ko-KR" b="1" dirty="0" smtClean="0">
                <a:solidFill>
                  <a:srgbClr val="FF0000"/>
                </a:solidFill>
              </a:rPr>
              <a:t>(Gyro-Only Integration)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b="1" dirty="0" smtClean="0"/>
              <a:t>2D </a:t>
            </a:r>
            <a:r>
              <a:rPr lang="ko-KR" altLang="en-US" b="1" dirty="0" smtClean="0"/>
              <a:t>수평면 가정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왜곡에 취약한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차원 필터 및 지자기 데이터를 과감히 배제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독립적 </a:t>
            </a:r>
            <a:r>
              <a:rPr lang="ko-KR" altLang="en-US" b="1" dirty="0" err="1" smtClean="0"/>
              <a:t>회전량</a:t>
            </a:r>
            <a:r>
              <a:rPr lang="ko-KR" altLang="en-US" b="1" dirty="0" smtClean="0"/>
              <a:t> 추적</a:t>
            </a:r>
            <a:r>
              <a:rPr lang="en-US" altLang="ko-KR" b="1" dirty="0" smtClean="0"/>
              <a:t>:</a:t>
            </a:r>
            <a:r>
              <a:rPr lang="ko-KR" altLang="en-US" dirty="0" smtClean="0"/>
              <a:t> 순수 </a:t>
            </a:r>
            <a:r>
              <a:rPr lang="en-US" altLang="ko-KR" dirty="0" smtClean="0"/>
              <a:t>Z</a:t>
            </a:r>
            <a:r>
              <a:rPr lang="ko-KR" altLang="en-US" dirty="0" smtClean="0"/>
              <a:t>축 회전 각속도</a:t>
            </a:r>
            <a:r>
              <a:rPr lang="en-US" altLang="ko-KR" dirty="0" smtClean="0"/>
              <a:t>(Raw Gyro Z) × </a:t>
            </a:r>
            <a:r>
              <a:rPr lang="ko-KR" altLang="en-US" dirty="0" smtClean="0"/>
              <a:t>시간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dt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실시간 누적하여 계산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 smtClean="0">
                <a:solidFill>
                  <a:srgbClr val="FF0000"/>
                </a:solidFill>
              </a:rPr>
              <a:t>정밀도 향상을 위한 추가 제어 기법</a:t>
            </a:r>
            <a:endParaRPr lang="ko-KR" altLang="en-US" dirty="0" smtClean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 dirty="0" smtClean="0"/>
              <a:t>정밀 정적 오차 보정 </a:t>
            </a:r>
            <a:r>
              <a:rPr lang="en-US" altLang="ko-KR" b="1" dirty="0" smtClean="0"/>
              <a:t>(Calibration):</a:t>
            </a:r>
            <a:r>
              <a:rPr lang="ko-KR" altLang="en-US" dirty="0" smtClean="0"/>
              <a:t> 부팅 시 수백 회 샘플링으로 </a:t>
            </a:r>
            <a:r>
              <a:rPr lang="ko-KR" altLang="en-US" dirty="0" err="1" smtClean="0"/>
              <a:t>자이로</a:t>
            </a:r>
            <a:r>
              <a:rPr lang="ko-KR" altLang="en-US" dirty="0" smtClean="0"/>
              <a:t> </a:t>
            </a:r>
            <a:r>
              <a:rPr lang="en-US" altLang="ko-KR" dirty="0" smtClean="0"/>
              <a:t>Z</a:t>
            </a:r>
            <a:r>
              <a:rPr lang="ko-KR" altLang="en-US" dirty="0" smtClean="0"/>
              <a:t>축의 평균 오프셋 제거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드리프트</a:t>
            </a:r>
            <a:r>
              <a:rPr lang="ko-KR" altLang="en-US" dirty="0" smtClean="0"/>
              <a:t> 최소화</a:t>
            </a:r>
            <a:r>
              <a:rPr lang="en-US" altLang="ko-KR" dirty="0" smtClean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b="1" dirty="0" err="1" smtClean="0"/>
              <a:t>데드밴드</a:t>
            </a:r>
            <a:r>
              <a:rPr lang="en-US" altLang="ko-KR" b="1" dirty="0" smtClean="0"/>
              <a:t>(</a:t>
            </a:r>
            <a:r>
              <a:rPr lang="en-US" altLang="ko-KR" b="1" dirty="0" err="1" smtClean="0"/>
              <a:t>Deadband</a:t>
            </a:r>
            <a:r>
              <a:rPr lang="en-US" altLang="ko-KR" b="1" dirty="0" smtClean="0"/>
              <a:t>) </a:t>
            </a:r>
            <a:r>
              <a:rPr lang="ko-KR" altLang="en-US" b="1" dirty="0" smtClean="0"/>
              <a:t>필터 </a:t>
            </a:r>
            <a:r>
              <a:rPr lang="en-US" altLang="ko-KR" b="1" dirty="0" smtClean="0"/>
              <a:t>&amp; </a:t>
            </a:r>
            <a:r>
              <a:rPr lang="ko-KR" altLang="en-US" b="1" dirty="0" smtClean="0"/>
              <a:t>적분 </a:t>
            </a:r>
            <a:r>
              <a:rPr lang="ko-KR" altLang="en-US" b="1" dirty="0" err="1" smtClean="0"/>
              <a:t>락</a:t>
            </a:r>
            <a:r>
              <a:rPr lang="en-US" altLang="ko-KR" b="1" dirty="0" smtClean="0"/>
              <a:t>(Lock):</a:t>
            </a:r>
            <a:r>
              <a:rPr lang="ko-KR" altLang="en-US" dirty="0" smtClean="0"/>
              <a:t> 회전 명령 시에만 적분 활성화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미세 진동 노이즈</a:t>
            </a:r>
            <a:r>
              <a:rPr lang="en-US" altLang="ko-KR" dirty="0" smtClean="0"/>
              <a:t>(&lt;0.1°/s) </a:t>
            </a:r>
            <a:r>
              <a:rPr lang="ko-KR" altLang="en-US" dirty="0" smtClean="0"/>
              <a:t>컷오프로 정지 상태의 각도 흐름 완벽 차단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2472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회전 주행 테스트 영상</a:t>
            </a:r>
            <a:endParaRPr lang="ko-KR" altLang="en-US" dirty="0"/>
          </a:p>
        </p:txBody>
      </p:sp>
      <p:pic>
        <p:nvPicPr>
          <p:cNvPr id="4" name="5일차_회전테스트(성공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74800" y="1409635"/>
            <a:ext cx="6731000" cy="544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6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라인 인식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141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동적</a:t>
            </a:r>
            <a:r>
              <a:rPr lang="en-US" altLang="ko-KR" dirty="0" smtClean="0"/>
              <a:t>/</a:t>
            </a:r>
            <a:r>
              <a:rPr lang="ko-KR" altLang="en-US" dirty="0" smtClean="0"/>
              <a:t>정적 </a:t>
            </a:r>
            <a:r>
              <a:rPr lang="ko-KR" altLang="en-US" dirty="0"/>
              <a:t>장애물 </a:t>
            </a:r>
            <a:r>
              <a:rPr lang="ko-KR" altLang="en-US" dirty="0" smtClean="0"/>
              <a:t>주행</a:t>
            </a:r>
            <a:endParaRPr lang="ko-KR" altLang="en-US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843314" y="3729403"/>
            <a:ext cx="1306286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ko-KR" altLang="ko-KR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38200" y="1493170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장애물 감지 (</a:t>
            </a:r>
            <a:r>
              <a:rPr kumimoji="0" lang="ko-KR" altLang="ko-K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lidar_node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필터링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전방 좌우 15° (총 30°) 영역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을 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실시간 </a:t>
            </a:r>
            <a:r>
              <a:rPr lang="ko-KR" altLang="en-US" sz="2000" dirty="0">
                <a:latin typeface="Arial" panose="020B0604020202020204" pitchFamily="34" charset="0"/>
              </a:rPr>
              <a:t>감지</a:t>
            </a:r>
            <a:endParaRPr kumimoji="0" lang="ko-KR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 및 발행: 0.40m 이내 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장애물 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물체 감지 시 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감지 값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[1.0]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발행</a:t>
            </a:r>
            <a:endParaRPr kumimoji="0" lang="en-US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상태 전환 (</a:t>
            </a:r>
            <a:r>
              <a:rPr kumimoji="0" lang="ko-KR" altLang="ko-K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brain_node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모니터링: 위험 신호(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1.0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수신 즉시 </a:t>
            </a:r>
            <a:r>
              <a:rPr kumimoji="0" lang="ko-KR" altLang="ko-KR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obstacle_detected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ko-KR" altLang="ko-KR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마킹</a:t>
            </a:r>
            <a:endParaRPr kumimoji="0" lang="ko-KR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모드 변경: 기존 PID 주행(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CRUISE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)을 즉시 중단하고 </a:t>
            </a:r>
            <a:r>
              <a:rPr kumimoji="0" lang="en-US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3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초간 대기</a:t>
            </a:r>
            <a:endParaRPr kumimoji="0" lang="en-US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정적 </a:t>
            </a:r>
            <a:r>
              <a:rPr lang="ko-KR" altLang="en-US" sz="2000" dirty="0" smtClean="0">
                <a:latin typeface="Arial" panose="020B0604020202020204" pitchFamily="34" charset="0"/>
              </a:rPr>
              <a:t>장애물</a:t>
            </a:r>
            <a:r>
              <a:rPr lang="en-US" altLang="ko-KR" sz="2000" dirty="0" smtClean="0">
                <a:latin typeface="Arial" panose="020B0604020202020204" pitchFamily="34" charset="0"/>
              </a:rPr>
              <a:t>: </a:t>
            </a:r>
            <a:r>
              <a:rPr lang="ko-KR" altLang="en-US" sz="2000" dirty="0" smtClean="0">
                <a:latin typeface="Arial" panose="020B0604020202020204" pitchFamily="34" charset="0"/>
              </a:rPr>
              <a:t>대기 후 장애물 존재하면 정적 장애물로 판단 우회 주행 한다</a:t>
            </a:r>
            <a:r>
              <a:rPr lang="en-US" altLang="ko-KR" sz="2000" dirty="0" smtClean="0">
                <a:latin typeface="Arial" panose="020B0604020202020204" pitchFamily="34" charset="0"/>
              </a:rPr>
              <a:t>.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2000" dirty="0">
                <a:latin typeface="Arial" panose="020B0604020202020204" pitchFamily="34" charset="0"/>
              </a:rPr>
              <a:t>동적 </a:t>
            </a:r>
            <a:r>
              <a:rPr lang="ko-KR" altLang="en-US" sz="2000" dirty="0" smtClean="0">
                <a:latin typeface="Arial" panose="020B0604020202020204" pitchFamily="34" charset="0"/>
              </a:rPr>
              <a:t>장애물</a:t>
            </a:r>
            <a:r>
              <a:rPr lang="en-US" altLang="ko-KR" sz="2000" dirty="0" smtClean="0">
                <a:latin typeface="Arial" panose="020B0604020202020204" pitchFamily="34" charset="0"/>
              </a:rPr>
              <a:t>: </a:t>
            </a:r>
            <a:r>
              <a:rPr lang="ko-KR" altLang="en-US" sz="2000" dirty="0" smtClean="0">
                <a:latin typeface="Arial" panose="020B0604020202020204" pitchFamily="34" charset="0"/>
              </a:rPr>
              <a:t>장애물 없으면 동적 장애물로 판단 계속 직진한다</a:t>
            </a:r>
            <a:r>
              <a:rPr lang="en-US" altLang="ko-KR" sz="2000" dirty="0" smtClean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제어 명령 </a:t>
            </a:r>
            <a:r>
              <a:rPr kumimoji="0" lang="ko-KR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처리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ko-KR" altLang="ko-KR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brain_node</a:t>
            </a:r>
            <a:r>
              <a:rPr kumimoji="0" lang="ko-KR" altLang="ko-KR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ko-KR" altLang="ko-KR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비상 제동: 즉시 제동 명령 </a:t>
            </a:r>
            <a:r>
              <a:rPr kumimoji="0" lang="ko-KR" altLang="ko-KR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</a:t>
            </a:r>
            <a:r>
              <a:rPr kumimoji="0" lang="ko-KR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송신</a:t>
            </a:r>
            <a:endParaRPr kumimoji="0" lang="en-US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ko-KR" altLang="en-US" sz="2000" dirty="0" smtClean="0">
                <a:latin typeface="Arial" panose="020B0604020202020204" pitchFamily="34" charset="0"/>
              </a:rPr>
              <a:t>동적 </a:t>
            </a:r>
            <a:r>
              <a:rPr lang="ko-KR" altLang="en-US" sz="2000" dirty="0" err="1" smtClean="0">
                <a:latin typeface="Arial" panose="020B0604020202020204" pitchFamily="34" charset="0"/>
              </a:rPr>
              <a:t>쟁애물일</a:t>
            </a:r>
            <a:r>
              <a:rPr lang="ko-KR" altLang="en-US" sz="2000" dirty="0" smtClean="0">
                <a:latin typeface="Arial" panose="020B0604020202020204" pitchFamily="34" charset="0"/>
              </a:rPr>
              <a:t> 경우 계속 직진</a:t>
            </a:r>
            <a:endParaRPr lang="en-US" altLang="ko-KR" sz="20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정적 장애물일 경우 우회 주행</a:t>
            </a:r>
            <a:r>
              <a:rPr kumimoji="0" lang="en-US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차선 </a:t>
            </a:r>
            <a:r>
              <a:rPr kumimoji="0" lang="en-US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-&gt; 2</a:t>
            </a:r>
            <a:r>
              <a:rPr kumimoji="0" lang="ko-KR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차선 우회 주행</a:t>
            </a:r>
            <a:r>
              <a:rPr kumimoji="0" lang="en-US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 2</a:t>
            </a:r>
            <a:r>
              <a:rPr lang="ko-KR" altLang="en-US" sz="2000" dirty="0" smtClean="0">
                <a:latin typeface="Arial" panose="020B0604020202020204" pitchFamily="34" charset="0"/>
              </a:rPr>
              <a:t>차선 </a:t>
            </a:r>
            <a:r>
              <a:rPr lang="en-US" altLang="ko-KR" sz="2000" dirty="0" smtClean="0">
                <a:latin typeface="Arial" panose="020B0604020202020204" pitchFamily="34" charset="0"/>
              </a:rPr>
              <a:t>-&gt; 1</a:t>
            </a:r>
            <a:r>
              <a:rPr lang="ko-KR" altLang="en-US" sz="2000" dirty="0" smtClean="0">
                <a:latin typeface="Arial" panose="020B0604020202020204" pitchFamily="34" charset="0"/>
              </a:rPr>
              <a:t>차선 우회 주행</a:t>
            </a:r>
            <a:r>
              <a:rPr kumimoji="0" lang="en-US" altLang="ko-KR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ko-KR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KR" altLang="ko-KR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16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786257" cy="1013732"/>
          </a:xfrm>
        </p:spPr>
        <p:txBody>
          <a:bodyPr/>
          <a:lstStyle/>
          <a:p>
            <a:pPr algn="ctr"/>
            <a:r>
              <a:rPr lang="ko-KR" altLang="en-US" dirty="0" smtClean="0"/>
              <a:t>정적 장애물</a:t>
            </a:r>
            <a:r>
              <a:rPr lang="en-US" altLang="ko-KR" dirty="0" smtClean="0"/>
              <a:t>(</a:t>
            </a:r>
            <a:r>
              <a:rPr lang="ko-KR" altLang="en-US" dirty="0" smtClean="0"/>
              <a:t>회피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   </a:t>
            </a:r>
            <a:r>
              <a:rPr lang="ko-KR" altLang="en-US" dirty="0" smtClean="0"/>
              <a:t>동적 장애물</a:t>
            </a:r>
            <a:r>
              <a:rPr lang="en-US" altLang="ko-KR" dirty="0" smtClean="0"/>
              <a:t>(</a:t>
            </a:r>
            <a:r>
              <a:rPr lang="ko-KR" altLang="en-US" dirty="0" smtClean="0"/>
              <a:t>직진</a:t>
            </a:r>
            <a:r>
              <a:rPr lang="en-US" altLang="ko-KR" dirty="0" smtClean="0"/>
              <a:t>) </a:t>
            </a:r>
            <a:endParaRPr lang="ko-KR" altLang="en-US" dirty="0"/>
          </a:p>
        </p:txBody>
      </p:sp>
      <p:pic>
        <p:nvPicPr>
          <p:cNvPr id="3" name="정적 장애물 인식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950333" y="1511795"/>
            <a:ext cx="2518274" cy="4444010"/>
          </a:xfrm>
          <a:prstGeom prst="rect">
            <a:avLst/>
          </a:prstGeom>
        </p:spPr>
      </p:pic>
      <p:pic>
        <p:nvPicPr>
          <p:cNvPr id="4" name="동적 장애물 감지 테스트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05013" y="1509486"/>
            <a:ext cx="2550770" cy="450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5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표지판 및 신호등 감지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390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좌회전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61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통합 결과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2026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주요 트러블 슈팅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613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914400" y="2892425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 smtClean="0"/>
              <a:t>Q &amp;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30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696</Words>
  <Application>Microsoft Office PowerPoint</Application>
  <PresentationFormat>와이드스크린</PresentationFormat>
  <Paragraphs>134</Paragraphs>
  <Slides>18</Slides>
  <Notes>0</Notes>
  <HiddenSlides>0</HiddenSlides>
  <MMClips>3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 Unicode MS</vt:lpstr>
      <vt:lpstr>맑은 고딕</vt:lpstr>
      <vt:lpstr>Arial</vt:lpstr>
      <vt:lpstr>Office 테마</vt:lpstr>
      <vt:lpstr>ROS2, 딥러닝 연동  자율주행 로봇</vt:lpstr>
      <vt:lpstr>목차</vt:lpstr>
      <vt:lpstr>목표</vt:lpstr>
      <vt:lpstr>역할 분담</vt:lpstr>
      <vt:lpstr>ROS 2 노드 통신 설계</vt:lpstr>
      <vt:lpstr>ROS 2 노드 통신 설계</vt:lpstr>
      <vt:lpstr>직진 주행 테스트</vt:lpstr>
      <vt:lpstr>직진 주행 테스트 영상</vt:lpstr>
      <vt:lpstr>회전 주행 테스트</vt:lpstr>
      <vt:lpstr>회전 주행 테스트 영상</vt:lpstr>
      <vt:lpstr>라인 인식</vt:lpstr>
      <vt:lpstr>동적/정적 장애물 주행</vt:lpstr>
      <vt:lpstr>정적 장애물(회피)    동적 장애물(직진) </vt:lpstr>
      <vt:lpstr>표지판 및 신호등 감지 </vt:lpstr>
      <vt:lpstr>좌회전 </vt:lpstr>
      <vt:lpstr>통합 결과 </vt:lpstr>
      <vt:lpstr>주요 트러블 슈팅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dcterms:created xsi:type="dcterms:W3CDTF">2026-06-08T02:18:34Z</dcterms:created>
  <dcterms:modified xsi:type="dcterms:W3CDTF">2026-06-08T08:54:52Z</dcterms:modified>
</cp:coreProperties>
</file>